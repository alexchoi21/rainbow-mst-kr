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A8124-D85A-41C3-B2AD-E357C453A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6D7E06-E554-4FB8-A0FA-FF617CF95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69717-F00D-4BAE-90D0-58230BDF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70968-CFD5-4079-B07B-7C130F87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0D69F-075E-4DA5-A76A-7D62738B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51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6EACC-B947-4D10-924D-8969322E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B3942-7A93-4B4E-8E10-74C49F238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9EC2C-F22E-4DB0-AADA-63F678B0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D05C41-A7C8-4ACB-B8A2-A6364340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15C419-4EE0-4FFB-BCA5-1FFAAAD8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037AE-B7F6-4ACD-84F4-4D529EBA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E68194-4873-4C4D-B61B-43113FE59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73309-A040-4DB3-8A9A-BDA073D9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2FABBA-1FBC-4553-8319-1CD700C0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C64403-BD6D-432C-981D-7D6983AF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0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D63CD-8886-48FA-A8F3-23A77C7E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DFA25-3249-4705-A6B5-708F4125C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79C8ED-8206-4193-A6CD-CD57DF3C7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D17DE7-C577-4966-8FA1-C0678F74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90BB7-9856-4D69-B54D-A17C47EE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9FB7C-7930-49E4-8E03-620F16CE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89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3E8A6-9153-4F31-8B07-DC56E79A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8990E8-B07E-4A44-BF0E-A1F6E142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E272B6-24E4-4717-A9DA-7578A068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B53E0E-2D12-4FBC-A47F-571313051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DE6D80-C4B0-49B4-B95F-86C333EDB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763F20-883F-4235-9992-AFC0882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5B9FE-A86D-472E-92AD-9B628EB1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9197B9-56EF-4E1F-B25B-82B64B32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3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77FA3-6FDD-498E-B8BF-642E8095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FD58C9-8A9D-4075-B4E8-E0785518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5DF8E3-8595-4C7A-974D-57D2DF17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AE691A-D20C-4056-89A5-6E2058A7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37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90188A-04F5-41AB-AD57-A5DBF47C0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F2DDC5-AABC-455E-9686-BF3D6E0C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DD342-D8DC-4555-8B0B-BA4F87D4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11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A76BC-5D13-4FAB-A0BF-620FB6F4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E8816-B2C2-420A-A4A7-C1B657DA2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1EC26B-9A1D-4550-8E18-975D903CB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8B84D4-E662-41E5-9A38-85BDB8C5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3BD6D9-E0AE-42B8-AC18-971EB597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FEF18-68F9-4EDB-ADD5-08F24A0D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6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685FA-2901-451D-AB02-CA1E8AF4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E6F75-92FC-41E9-8B0B-99A6FF65C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7BCE5D-CCF9-4CD1-9459-4D6808C71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2E8EAE-DB53-4E57-A2E3-7D28290E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1CA95-3FCF-48D7-BDE0-3121AC6D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BA0323-8CE7-4C11-B1C8-36343A14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8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13942-F323-4C67-B54E-CE4EFDBD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FF7BE0-D98E-422C-97ED-906FE2DCE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81996-4066-49BE-AA6F-B6719AB9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58FC4C-FFCA-4DCC-BB4D-574D914D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3F72C-5FF4-4A44-BC13-826BAC41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7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35198A-3547-4FA1-AF8E-F9B8703E5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C47618-90FC-4545-9B7F-D9814D567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832072-052C-449F-8507-DB8CA1E7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1D6C6-A323-4FBC-AE65-A54BBDBA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CF6F0-9E68-4CA6-86B3-ED1982BC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3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64F1F2-0E31-47B1-B3AD-4F8148BE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4F189-EA18-49C8-9F99-DB8F025A7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C1DC9-6C4B-446D-8E2C-9D3029D41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95402-3295-435C-9841-FCB98A9F2E3E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89B7F-7549-4810-84B0-8C55E166D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CCC1D-CE25-4A72-BB98-1333595E4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90C56-3D43-41FB-8C1F-203A0EF986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9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bmst.co.kr/" TargetMode="External"/><Relationship Id="rId2" Type="http://schemas.openxmlformats.org/officeDocument/2006/relationships/hyperlink" Target="mailto:rainbow@rbmst.co.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53B10E-397E-46D9-BFDC-FA0D04A9726D}"/>
              </a:ext>
            </a:extLst>
          </p:cNvPr>
          <p:cNvSpPr/>
          <p:nvPr/>
        </p:nvSpPr>
        <p:spPr>
          <a:xfrm>
            <a:off x="1457499" y="333304"/>
            <a:ext cx="1546167" cy="723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F13A28-EB33-430E-B69C-DAE12649724E}"/>
              </a:ext>
            </a:extLst>
          </p:cNvPr>
          <p:cNvSpPr/>
          <p:nvPr/>
        </p:nvSpPr>
        <p:spPr>
          <a:xfrm>
            <a:off x="3003666" y="333304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6CB3C1-0701-44FA-AA39-249AF050418C}"/>
              </a:ext>
            </a:extLst>
          </p:cNvPr>
          <p:cNvSpPr/>
          <p:nvPr/>
        </p:nvSpPr>
        <p:spPr>
          <a:xfrm>
            <a:off x="4549833" y="333304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05492-66E7-4987-9346-F63D8C802E90}"/>
              </a:ext>
            </a:extLst>
          </p:cNvPr>
          <p:cNvSpPr/>
          <p:nvPr/>
        </p:nvSpPr>
        <p:spPr>
          <a:xfrm>
            <a:off x="6096000" y="333304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99CAAD-5FE9-47E3-B989-63F3BAF989B0}"/>
              </a:ext>
            </a:extLst>
          </p:cNvPr>
          <p:cNvSpPr/>
          <p:nvPr/>
        </p:nvSpPr>
        <p:spPr>
          <a:xfrm>
            <a:off x="1490748" y="1723382"/>
            <a:ext cx="880040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레인보우코리아를</a:t>
            </a:r>
            <a:r>
              <a:rPr lang="ko-KR" altLang="en-US" dirty="0"/>
              <a:t> </a:t>
            </a:r>
            <a:r>
              <a:rPr lang="ko-KR" altLang="en-US" dirty="0" err="1"/>
              <a:t>방문해주셔서</a:t>
            </a:r>
            <a:r>
              <a:rPr lang="ko-KR" altLang="en-US" dirty="0"/>
              <a:t> 감사드립니다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</a:t>
            </a:r>
            <a:r>
              <a:rPr lang="ko-KR" altLang="en-US" dirty="0" err="1"/>
              <a:t>레인보우코리아는</a:t>
            </a:r>
            <a:r>
              <a:rPr lang="ko-KR" altLang="en-US" dirty="0"/>
              <a:t>  </a:t>
            </a:r>
            <a:r>
              <a:rPr lang="en-US" altLang="ko-KR" dirty="0"/>
              <a:t>PCB</a:t>
            </a:r>
            <a:r>
              <a:rPr lang="ko-KR" altLang="en-US" dirty="0"/>
              <a:t>제조공정프로세스의 이해와 기술력을 바탕으로 하는 </a:t>
            </a:r>
            <a:r>
              <a:rPr lang="ko-KR" altLang="en-US" dirty="0" err="1"/>
              <a:t>PCB제조용장비</a:t>
            </a:r>
            <a:r>
              <a:rPr lang="ko-KR" altLang="en-US" dirty="0"/>
              <a:t>, 반도체제조용장비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 err="1"/>
              <a:t>차전지</a:t>
            </a:r>
            <a:r>
              <a:rPr lang="ko-KR" altLang="en-US"/>
              <a:t> 제조장비등 </a:t>
            </a:r>
            <a:r>
              <a:rPr lang="ko-KR" altLang="en-US" dirty="0"/>
              <a:t>다양한 산업 분야에 종합적인 기술 솔루션을 제공하는 기업입니다. </a:t>
            </a:r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/>
              <a:t>AI(</a:t>
            </a:r>
            <a:r>
              <a:rPr lang="ko-KR" altLang="en-US" dirty="0"/>
              <a:t>인공지능</a:t>
            </a:r>
            <a:r>
              <a:rPr lang="en-US" altLang="ko-KR" dirty="0"/>
              <a:t>)</a:t>
            </a:r>
            <a:r>
              <a:rPr lang="ko-KR" altLang="en-US" dirty="0"/>
              <a:t>의 급수요 </a:t>
            </a:r>
            <a:r>
              <a:rPr lang="en-US" altLang="ko-KR" dirty="0"/>
              <a:t>AI, </a:t>
            </a:r>
            <a:r>
              <a:rPr lang="ko-KR" altLang="en-US" dirty="0"/>
              <a:t>에이전트</a:t>
            </a:r>
            <a:r>
              <a:rPr lang="en-US" altLang="ko-KR" dirty="0"/>
              <a:t>, </a:t>
            </a:r>
            <a:r>
              <a:rPr lang="ko-KR" altLang="en-US" dirty="0"/>
              <a:t>플랫폼의 기술 솔루션도 제공하고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경쟁력을 위해 대만과 중국에 해외 지사를 두고 있으며, 한국, 대만, 중국의 주요 기업들과 협력하여 신기술 및 공정개발</a:t>
            </a:r>
            <a:r>
              <a:rPr lang="en-US" altLang="ko-KR" dirty="0"/>
              <a:t>, </a:t>
            </a:r>
            <a:r>
              <a:rPr lang="ko-KR" altLang="en-US" dirty="0"/>
              <a:t>개발을 통한 신사업을 발굴하여 고객 여러분께 차별화된 가치를 창출하고 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더 나은 기술개발</a:t>
            </a:r>
            <a:r>
              <a:rPr lang="en-US" altLang="ko-KR" dirty="0"/>
              <a:t>, </a:t>
            </a:r>
            <a:r>
              <a:rPr lang="ko-KR" altLang="en-US" dirty="0"/>
              <a:t>솔루션을 제공하여 고객 여러분에 </a:t>
            </a:r>
            <a:r>
              <a:rPr lang="ko-KR" altLang="en-US" dirty="0" err="1"/>
              <a:t>다가겠습니다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감사합니다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레인보우코리아</a:t>
            </a:r>
            <a:r>
              <a:rPr lang="ko-KR" altLang="en-US" dirty="0"/>
              <a:t> 일동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723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53B10E-397E-46D9-BFDC-FA0D04A9726D}"/>
              </a:ext>
            </a:extLst>
          </p:cNvPr>
          <p:cNvSpPr/>
          <p:nvPr/>
        </p:nvSpPr>
        <p:spPr>
          <a:xfrm>
            <a:off x="1388226" y="54032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F13A28-EB33-430E-B69C-DAE12649724E}"/>
              </a:ext>
            </a:extLst>
          </p:cNvPr>
          <p:cNvSpPr/>
          <p:nvPr/>
        </p:nvSpPr>
        <p:spPr>
          <a:xfrm>
            <a:off x="2934393" y="54032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6CB3C1-0701-44FA-AA39-249AF050418C}"/>
              </a:ext>
            </a:extLst>
          </p:cNvPr>
          <p:cNvSpPr/>
          <p:nvPr/>
        </p:nvSpPr>
        <p:spPr>
          <a:xfrm>
            <a:off x="4480560" y="54032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05492-66E7-4987-9346-F63D8C802E90}"/>
              </a:ext>
            </a:extLst>
          </p:cNvPr>
          <p:cNvSpPr/>
          <p:nvPr/>
        </p:nvSpPr>
        <p:spPr>
          <a:xfrm>
            <a:off x="6026727" y="54032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75964C-BE56-41B2-A6E5-106B95FC4967}"/>
              </a:ext>
            </a:extLst>
          </p:cNvPr>
          <p:cNvSpPr/>
          <p:nvPr/>
        </p:nvSpPr>
        <p:spPr>
          <a:xfrm>
            <a:off x="1388226" y="1607004"/>
            <a:ext cx="880040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2016</a:t>
            </a:r>
            <a:r>
              <a:rPr lang="ko-KR" altLang="en-US" sz="1200" dirty="0"/>
              <a:t>년 </a:t>
            </a:r>
            <a:r>
              <a:rPr lang="en-US" altLang="ko-KR" sz="1200" dirty="0"/>
              <a:t>10</a:t>
            </a:r>
            <a:r>
              <a:rPr lang="ko-KR" altLang="en-US" sz="1200" dirty="0"/>
              <a:t>월 </a:t>
            </a:r>
            <a:r>
              <a:rPr lang="ko-KR" altLang="en-US" sz="1200" dirty="0" err="1"/>
              <a:t>유앤아이</a:t>
            </a:r>
            <a:r>
              <a:rPr lang="ko-KR" altLang="en-US" sz="1200" dirty="0"/>
              <a:t> 설립 </a:t>
            </a:r>
            <a:r>
              <a:rPr lang="en-US" altLang="ko-KR" sz="1200" dirty="0"/>
              <a:t>/ </a:t>
            </a:r>
            <a:r>
              <a:rPr lang="ko-KR" altLang="en-US" sz="1200" dirty="0"/>
              <a:t> </a:t>
            </a:r>
            <a:r>
              <a:rPr lang="en-US" altLang="ko-KR" sz="1200" dirty="0"/>
              <a:t>Rainbow </a:t>
            </a:r>
            <a:r>
              <a:rPr lang="ko-KR" altLang="en-US" sz="1200" dirty="0"/>
              <a:t>국내 사무실 개점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2016</a:t>
            </a:r>
            <a:r>
              <a:rPr lang="ko-KR" altLang="en-US" sz="1200" dirty="0"/>
              <a:t>년 </a:t>
            </a:r>
            <a:r>
              <a:rPr lang="en-US" altLang="ko-KR" sz="1200" dirty="0"/>
              <a:t>12</a:t>
            </a:r>
            <a:r>
              <a:rPr lang="ko-KR" altLang="en-US" sz="1200" dirty="0"/>
              <a:t>월 터치패널 </a:t>
            </a:r>
            <a:r>
              <a:rPr lang="ko-KR" altLang="en-US" sz="1200" dirty="0" err="1"/>
              <a:t>본딩기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가압착기</a:t>
            </a:r>
            <a:r>
              <a:rPr lang="ko-KR" altLang="en-US" sz="1200" dirty="0"/>
              <a:t> 베트남 수출 </a:t>
            </a:r>
            <a:r>
              <a:rPr lang="en-US" altLang="ko-KR" sz="1200" dirty="0"/>
              <a:t>/ MRO </a:t>
            </a:r>
            <a:r>
              <a:rPr lang="ko-KR" altLang="en-US" sz="1200" dirty="0"/>
              <a:t>판매대리점 계약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스페텍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2017</a:t>
            </a:r>
            <a:r>
              <a:rPr lang="ko-KR" altLang="en-US" sz="1200" dirty="0"/>
              <a:t>년 </a:t>
            </a:r>
            <a:r>
              <a:rPr lang="en-US" altLang="ko-KR" sz="1200" dirty="0"/>
              <a:t>MLCC </a:t>
            </a:r>
            <a:r>
              <a:rPr lang="ko-KR" altLang="en-US" sz="1200" dirty="0" err="1"/>
              <a:t>수량카운터</a:t>
            </a:r>
            <a:r>
              <a:rPr lang="ko-KR" altLang="en-US" sz="1200" dirty="0"/>
              <a:t> 수입</a:t>
            </a:r>
            <a:r>
              <a:rPr lang="en-US" altLang="ko-KR" sz="1200" dirty="0"/>
              <a:t>(S</a:t>
            </a:r>
            <a:r>
              <a:rPr lang="ko-KR" altLang="en-US" sz="1200" dirty="0" err="1"/>
              <a:t>사전기</a:t>
            </a:r>
            <a:r>
              <a:rPr lang="ko-KR" altLang="en-US" sz="1200" dirty="0"/>
              <a:t> 납품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2018</a:t>
            </a:r>
            <a:r>
              <a:rPr lang="ko-KR" altLang="en-US" sz="1200" dirty="0"/>
              <a:t>년 </a:t>
            </a:r>
            <a:r>
              <a:rPr lang="en-US" altLang="ko-KR" sz="1200" dirty="0"/>
              <a:t>Foxconn GIS Touch panel Audit</a:t>
            </a:r>
            <a:r>
              <a:rPr lang="ko-KR" altLang="en-US" sz="1200" dirty="0"/>
              <a:t> 기술품질 컨설팅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DCF Tape</a:t>
            </a:r>
            <a:r>
              <a:rPr lang="ko-KR" altLang="en-US" sz="1200" dirty="0"/>
              <a:t>납품</a:t>
            </a:r>
            <a:r>
              <a:rPr lang="en-US" altLang="ko-KR" sz="1200" dirty="0"/>
              <a:t>(I, AOO, K</a:t>
            </a:r>
            <a:r>
              <a:rPr lang="ko-KR" altLang="en-US" sz="1200" dirty="0"/>
              <a:t>사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2019</a:t>
            </a:r>
            <a:r>
              <a:rPr lang="ko-KR" altLang="en-US" sz="1200" dirty="0"/>
              <a:t>년 대만 수직현상기 판매계약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2021</a:t>
            </a:r>
            <a:r>
              <a:rPr lang="ko-KR" altLang="en-US" sz="1200" dirty="0"/>
              <a:t>년 수직현상기 납품</a:t>
            </a:r>
            <a:r>
              <a:rPr lang="en-US" altLang="ko-KR" sz="1200" dirty="0"/>
              <a:t>(K</a:t>
            </a:r>
            <a:r>
              <a:rPr lang="ko-KR" altLang="en-US" sz="1200" dirty="0"/>
              <a:t>사</a:t>
            </a:r>
            <a:r>
              <a:rPr lang="en-US" altLang="ko-KR" sz="1200" dirty="0"/>
              <a:t>)-2</a:t>
            </a:r>
            <a:r>
              <a:rPr lang="ko-KR" altLang="en-US" sz="1200" dirty="0"/>
              <a:t>라인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2022</a:t>
            </a:r>
            <a:r>
              <a:rPr lang="ko-KR" altLang="en-US" sz="1200" dirty="0"/>
              <a:t>년 수직현상기 납품</a:t>
            </a:r>
            <a:r>
              <a:rPr lang="en-US" altLang="ko-KR" sz="1200" dirty="0"/>
              <a:t>(K</a:t>
            </a:r>
            <a:r>
              <a:rPr lang="ko-KR" altLang="en-US" sz="1200" dirty="0"/>
              <a:t>사</a:t>
            </a:r>
            <a:r>
              <a:rPr lang="en-US" altLang="ko-KR" sz="1200" dirty="0"/>
              <a:t>)-1</a:t>
            </a:r>
            <a:r>
              <a:rPr lang="ko-KR" altLang="en-US" sz="1200" dirty="0"/>
              <a:t>라인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2023</a:t>
            </a:r>
            <a:r>
              <a:rPr lang="ko-KR" altLang="en-US" sz="1200" dirty="0"/>
              <a:t>년 </a:t>
            </a:r>
            <a:r>
              <a:rPr lang="en-US" altLang="ko-KR" sz="1200" dirty="0"/>
              <a:t>Chamber oven</a:t>
            </a:r>
            <a:r>
              <a:rPr lang="ko-KR" altLang="en-US" sz="1200" dirty="0"/>
              <a:t>납품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2023</a:t>
            </a:r>
            <a:r>
              <a:rPr lang="ko-KR" altLang="en-US" sz="1200" dirty="0"/>
              <a:t>년 미국</a:t>
            </a:r>
            <a:r>
              <a:rPr lang="en-US" altLang="ko-KR" sz="1200" dirty="0"/>
              <a:t>A</a:t>
            </a:r>
            <a:r>
              <a:rPr lang="ko-KR" altLang="en-US" sz="1200" dirty="0"/>
              <a:t>사 </a:t>
            </a:r>
            <a:r>
              <a:rPr lang="en-US" altLang="ko-KR" sz="1200" dirty="0"/>
              <a:t>Glass</a:t>
            </a:r>
            <a:r>
              <a:rPr lang="ko-KR" altLang="en-US" sz="1200" dirty="0" err="1"/>
              <a:t>유리기판용</a:t>
            </a:r>
            <a:r>
              <a:rPr lang="ko-KR" altLang="en-US" sz="1200" dirty="0"/>
              <a:t> </a:t>
            </a:r>
            <a:r>
              <a:rPr lang="en-US" altLang="ko-KR" sz="1200" dirty="0"/>
              <a:t>Chamber oven </a:t>
            </a:r>
            <a:r>
              <a:rPr lang="ko-KR" altLang="en-US" sz="1200" dirty="0"/>
              <a:t>납품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2025</a:t>
            </a:r>
            <a:r>
              <a:rPr lang="ko-KR" altLang="en-US" sz="1200" dirty="0"/>
              <a:t>년</a:t>
            </a:r>
            <a:r>
              <a:rPr lang="en-US" altLang="ko-KR" sz="1200" dirty="0"/>
              <a:t>~</a:t>
            </a:r>
            <a:r>
              <a:rPr lang="ko-KR" altLang="en-US" sz="1200" dirty="0"/>
              <a:t> </a:t>
            </a:r>
            <a:r>
              <a:rPr lang="en-US" altLang="ko-KR" sz="1200" dirty="0"/>
              <a:t>PCB</a:t>
            </a:r>
            <a:r>
              <a:rPr lang="ko-KR" altLang="en-US" sz="1200" dirty="0"/>
              <a:t>제조용 필름제거장비 납품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2025</a:t>
            </a:r>
            <a:r>
              <a:rPr lang="ko-KR" altLang="en-US" sz="1200" dirty="0"/>
              <a:t>년 상호명 변경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유앤아이</a:t>
            </a:r>
            <a:r>
              <a:rPr lang="ko-KR" altLang="en-US" sz="1200" dirty="0"/>
              <a:t> </a:t>
            </a:r>
            <a:r>
              <a:rPr lang="en-US" altLang="ko-KR" sz="1200" dirty="0"/>
              <a:t>-&gt; </a:t>
            </a:r>
            <a:r>
              <a:rPr lang="ko-KR" altLang="en-US" sz="1200" dirty="0" err="1"/>
              <a:t>레인보우코리아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2026</a:t>
            </a:r>
            <a:r>
              <a:rPr lang="ko-KR" altLang="en-US" sz="1200" dirty="0"/>
              <a:t>년 </a:t>
            </a:r>
            <a:r>
              <a:rPr lang="en-US" altLang="ko-KR" sz="1200" dirty="0"/>
              <a:t>AI </a:t>
            </a:r>
            <a:r>
              <a:rPr lang="ko-KR" altLang="en-US" sz="1200" dirty="0"/>
              <a:t>에이전트 플랫폼 신사업 개발 양산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46AAA9-A0E1-4C24-B924-11F42EF64ACC}"/>
              </a:ext>
            </a:extLst>
          </p:cNvPr>
          <p:cNvSpPr/>
          <p:nvPr/>
        </p:nvSpPr>
        <p:spPr>
          <a:xfrm>
            <a:off x="8204662" y="1172095"/>
            <a:ext cx="2599112" cy="3416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연혁을 넣는게 나을지</a:t>
            </a:r>
            <a:r>
              <a:rPr lang="en-US" altLang="ko-KR" dirty="0"/>
              <a:t>….??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905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53B10E-397E-46D9-BFDC-FA0D04A9726D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F13A28-EB33-430E-B69C-DAE12649724E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6CB3C1-0701-44FA-AA39-249AF050418C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05492-66E7-4987-9346-F63D8C802E90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9D9B7D-4C1C-41D4-8695-94828B68FA0F}"/>
              </a:ext>
            </a:extLst>
          </p:cNvPr>
          <p:cNvSpPr/>
          <p:nvPr/>
        </p:nvSpPr>
        <p:spPr>
          <a:xfrm>
            <a:off x="1454727" y="1047404"/>
            <a:ext cx="1629295" cy="5403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PCB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07D1BF-BCA5-4F26-BB0D-091FC72B7DD2}"/>
              </a:ext>
            </a:extLst>
          </p:cNvPr>
          <p:cNvSpPr/>
          <p:nvPr/>
        </p:nvSpPr>
        <p:spPr>
          <a:xfrm>
            <a:off x="337496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반도체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F6EBDF-2381-4798-B8A5-617C236B38D2}"/>
              </a:ext>
            </a:extLst>
          </p:cNvPr>
          <p:cNvSpPr/>
          <p:nvPr/>
        </p:nvSpPr>
        <p:spPr>
          <a:xfrm>
            <a:off x="529520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MRO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283479-3CFF-425A-92F0-53D0667AB139}"/>
              </a:ext>
            </a:extLst>
          </p:cNvPr>
          <p:cNvSpPr/>
          <p:nvPr/>
        </p:nvSpPr>
        <p:spPr>
          <a:xfrm>
            <a:off x="721544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/ </a:t>
            </a:r>
            <a:r>
              <a:rPr lang="ko-KR" altLang="en-US" dirty="0"/>
              <a:t>코딩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F085AF-2E11-4311-86CF-21F14FD74C16}"/>
              </a:ext>
            </a:extLst>
          </p:cNvPr>
          <p:cNvSpPr/>
          <p:nvPr/>
        </p:nvSpPr>
        <p:spPr>
          <a:xfrm>
            <a:off x="913568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기타서비스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E79F3-E413-45C7-A6EF-99B38D951C22}"/>
              </a:ext>
            </a:extLst>
          </p:cNvPr>
          <p:cNvSpPr txBox="1"/>
          <p:nvPr/>
        </p:nvSpPr>
        <p:spPr>
          <a:xfrm>
            <a:off x="1454727" y="1778922"/>
            <a:ext cx="9193877" cy="489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/>
              <a:t>Detach : Coreless separator MC(</a:t>
            </a:r>
            <a:r>
              <a:rPr lang="ko-KR" altLang="en-US" sz="1400" dirty="0"/>
              <a:t>기판분리기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       Carrier Copper Foil Peeler(</a:t>
            </a:r>
            <a:r>
              <a:rPr lang="ko-KR" altLang="en-US" sz="1400" dirty="0" err="1"/>
              <a:t>동박분리기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/>
              <a:t>필러 </a:t>
            </a:r>
            <a:r>
              <a:rPr lang="en-US" altLang="ko-KR" sz="1400" dirty="0"/>
              <a:t>: DFR Auto peeler(</a:t>
            </a:r>
            <a:r>
              <a:rPr lang="ko-KR" altLang="en-US" sz="1400" dirty="0" err="1"/>
              <a:t>오토필러</a:t>
            </a:r>
            <a:r>
              <a:rPr lang="en-US" altLang="ko-KR" sz="1400" dirty="0"/>
              <a:t>, </a:t>
            </a:r>
            <a:r>
              <a:rPr lang="ko-KR" altLang="en-US" sz="1400" dirty="0"/>
              <a:t>수평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     DFSR / ABF Auto peeler(</a:t>
            </a:r>
            <a:r>
              <a:rPr lang="ko-KR" altLang="en-US" sz="1400" dirty="0" err="1"/>
              <a:t>오토필러</a:t>
            </a:r>
            <a:r>
              <a:rPr lang="en-US" altLang="ko-KR" sz="1400" dirty="0"/>
              <a:t>, </a:t>
            </a:r>
            <a:r>
              <a:rPr lang="ko-KR" altLang="en-US" sz="1400" dirty="0"/>
              <a:t>수직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 err="1"/>
              <a:t>라미네이션</a:t>
            </a:r>
            <a:r>
              <a:rPr lang="ko-KR" altLang="en-US" sz="1400" dirty="0"/>
              <a:t> </a:t>
            </a:r>
            <a:r>
              <a:rPr lang="en-US" altLang="ko-KR" sz="1400" dirty="0"/>
              <a:t>: DFR Roller Lamination MC(</a:t>
            </a:r>
            <a:r>
              <a:rPr lang="ko-KR" altLang="en-US" sz="1400" dirty="0" err="1"/>
              <a:t>일반라미네이터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             Vacuum Lamination MC(</a:t>
            </a:r>
            <a:r>
              <a:rPr lang="ko-KR" altLang="en-US" sz="1400" dirty="0" err="1"/>
              <a:t>진공라미네이터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/>
              <a:t>Wet</a:t>
            </a:r>
            <a:r>
              <a:rPr lang="ko-KR" altLang="en-US" sz="1400" dirty="0"/>
              <a:t>라인 </a:t>
            </a:r>
            <a:r>
              <a:rPr lang="en-US" altLang="ko-KR" sz="1400" dirty="0"/>
              <a:t>: </a:t>
            </a:r>
            <a:r>
              <a:rPr lang="ko-KR" altLang="en-US" sz="1400" dirty="0"/>
              <a:t>수직현상기</a:t>
            </a:r>
            <a:r>
              <a:rPr lang="en-US" altLang="ko-KR" sz="1400" dirty="0"/>
              <a:t>(</a:t>
            </a:r>
            <a:r>
              <a:rPr lang="ko-KR" altLang="en-US" sz="1400" dirty="0"/>
              <a:t>이미지</a:t>
            </a:r>
            <a:r>
              <a:rPr lang="en-US" altLang="ko-KR" sz="1400" dirty="0"/>
              <a:t>, PSR)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                  수직</a:t>
            </a:r>
            <a:r>
              <a:rPr lang="en-US" altLang="ko-KR" sz="1400" dirty="0"/>
              <a:t>Flash etching, </a:t>
            </a:r>
            <a:r>
              <a:rPr lang="ko-KR" altLang="en-US" sz="1400" dirty="0"/>
              <a:t>수직전처리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          CZ</a:t>
            </a:r>
            <a:r>
              <a:rPr lang="ko-KR" altLang="en-US" sz="1400" dirty="0"/>
              <a:t>라인</a:t>
            </a:r>
            <a:r>
              <a:rPr lang="en-US" altLang="ko-KR" sz="1400" dirty="0"/>
              <a:t>(</a:t>
            </a:r>
            <a:r>
              <a:rPr lang="ko-KR" altLang="en-US" sz="1400" dirty="0"/>
              <a:t>수평</a:t>
            </a:r>
            <a:r>
              <a:rPr lang="en-US" altLang="ko-KR" sz="1400" dirty="0"/>
              <a:t>), </a:t>
            </a:r>
            <a:r>
              <a:rPr lang="en-US" altLang="ko-KR" sz="1400" dirty="0" err="1"/>
              <a:t>Glicap</a:t>
            </a:r>
            <a:r>
              <a:rPr lang="ko-KR" altLang="en-US" sz="1400" dirty="0"/>
              <a:t>라인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/>
              <a:t>건조라인 </a:t>
            </a:r>
            <a:r>
              <a:rPr lang="en-US" altLang="ko-KR" sz="1400" dirty="0"/>
              <a:t>: Chamber Oven(Clean Oven), N2 Oven, UV</a:t>
            </a:r>
            <a:r>
              <a:rPr lang="ko-KR" altLang="en-US" sz="1400" dirty="0"/>
              <a:t>건조기</a:t>
            </a:r>
            <a:r>
              <a:rPr lang="en-US" altLang="ko-KR" sz="1400" dirty="0"/>
              <a:t>, </a:t>
            </a:r>
            <a:r>
              <a:rPr lang="ko-KR" altLang="en-US" sz="1400" dirty="0"/>
              <a:t>자동터널건조기</a:t>
            </a:r>
            <a:r>
              <a:rPr lang="en-US" altLang="ko-KR" sz="1400" dirty="0"/>
              <a:t>, Box oven</a:t>
            </a:r>
            <a:r>
              <a:rPr lang="ko-KR" altLang="en-US" sz="1400" dirty="0"/>
              <a:t>자동화</a:t>
            </a:r>
            <a:r>
              <a:rPr lang="en-US" altLang="ko-KR" sz="1400" dirty="0"/>
              <a:t>(with AMR)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/>
              <a:t>플라즈마 </a:t>
            </a:r>
            <a:r>
              <a:rPr lang="en-US" altLang="ko-KR" sz="1400" dirty="0"/>
              <a:t>:</a:t>
            </a:r>
            <a:r>
              <a:rPr lang="ko-KR" altLang="en-US" sz="1400" dirty="0"/>
              <a:t> 대기압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상압</a:t>
            </a:r>
            <a:r>
              <a:rPr lang="en-US" altLang="ko-KR" sz="1400" dirty="0"/>
              <a:t>, O2</a:t>
            </a:r>
            <a:r>
              <a:rPr lang="ko-KR" altLang="en-US" sz="1400" dirty="0"/>
              <a:t>등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/>
              <a:t>FOUP : </a:t>
            </a:r>
            <a:r>
              <a:rPr lang="ko-KR" altLang="en-US" sz="1400" dirty="0"/>
              <a:t>판넬 전용 </a:t>
            </a:r>
            <a:r>
              <a:rPr lang="en-US" altLang="ko-KR" sz="1400" dirty="0"/>
              <a:t>FOUP, Glass</a:t>
            </a:r>
            <a:r>
              <a:rPr lang="ko-KR" altLang="en-US" sz="1400" dirty="0"/>
              <a:t> </a:t>
            </a:r>
            <a:r>
              <a:rPr lang="en-US" altLang="ko-KR" sz="1400" dirty="0"/>
              <a:t>FOUP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/>
              <a:t>FOUP </a:t>
            </a:r>
            <a:r>
              <a:rPr lang="ko-KR" altLang="en-US" sz="1400" dirty="0"/>
              <a:t>세정건조라인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/>
              <a:t>측정기 </a:t>
            </a:r>
            <a:r>
              <a:rPr lang="en-US" altLang="ko-KR" sz="1400" dirty="0"/>
              <a:t>: F TO F</a:t>
            </a:r>
            <a:r>
              <a:rPr lang="ko-KR" altLang="en-US" sz="1400" dirty="0"/>
              <a:t>거리측정기</a:t>
            </a:r>
            <a:r>
              <a:rPr lang="en-US" altLang="ko-KR" sz="1400" dirty="0"/>
              <a:t>, </a:t>
            </a:r>
            <a:r>
              <a:rPr lang="ko-KR" altLang="en-US" sz="1400" dirty="0"/>
              <a:t>두께측정기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회로폭측정기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휨측정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소터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/>
              <a:t>물류 자동화라인 </a:t>
            </a:r>
            <a:r>
              <a:rPr lang="en-US" altLang="ko-KR" sz="1400" dirty="0"/>
              <a:t>: </a:t>
            </a:r>
            <a:r>
              <a:rPr lang="ko-KR" altLang="en-US" sz="1400" dirty="0"/>
              <a:t>투입수취기</a:t>
            </a:r>
            <a:r>
              <a:rPr lang="en-US" altLang="ko-KR" sz="1400" dirty="0"/>
              <a:t>, EFEM, AMR,</a:t>
            </a:r>
            <a:r>
              <a:rPr lang="ko-KR" altLang="en-US" sz="1400" dirty="0"/>
              <a:t> </a:t>
            </a:r>
            <a:r>
              <a:rPr lang="en-US" altLang="ko-KR" sz="1400" dirty="0"/>
              <a:t>OHT</a:t>
            </a:r>
          </a:p>
        </p:txBody>
      </p:sp>
    </p:spTree>
    <p:extLst>
      <p:ext uri="{BB962C8B-B14F-4D97-AF65-F5344CB8AC3E}">
        <p14:creationId xmlns:p14="http://schemas.microsoft.com/office/powerpoint/2010/main" val="294525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FB903-B4D5-4CD3-8FE3-B102C712DEF9}"/>
              </a:ext>
            </a:extLst>
          </p:cNvPr>
          <p:cNvSpPr txBox="1"/>
          <p:nvPr/>
        </p:nvSpPr>
        <p:spPr>
          <a:xfrm>
            <a:off x="1388226" y="1929326"/>
            <a:ext cx="9193877" cy="299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필러 </a:t>
            </a:r>
            <a:r>
              <a:rPr lang="en-US" altLang="ko-KR" sz="1600" dirty="0"/>
              <a:t>: Wafer Auto peeler(</a:t>
            </a:r>
            <a:r>
              <a:rPr lang="ko-KR" altLang="en-US" sz="1600" dirty="0" err="1"/>
              <a:t>오토필러</a:t>
            </a:r>
            <a:r>
              <a:rPr lang="en-US" altLang="ko-KR" sz="1600" dirty="0"/>
              <a:t>, </a:t>
            </a:r>
            <a:r>
              <a:rPr lang="ko-KR" altLang="en-US" sz="1600" dirty="0"/>
              <a:t>수평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라미네이션</a:t>
            </a:r>
            <a:r>
              <a:rPr lang="ko-KR" altLang="en-US" sz="1600" dirty="0"/>
              <a:t> </a:t>
            </a:r>
            <a:r>
              <a:rPr lang="en-US" altLang="ko-KR" sz="1600" dirty="0"/>
              <a:t>: Wafer Lamination MC(</a:t>
            </a:r>
            <a:r>
              <a:rPr lang="ko-KR" altLang="en-US" sz="1600" dirty="0" err="1"/>
              <a:t>일반라미네이터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              Vacuum Lamination MC(</a:t>
            </a:r>
            <a:r>
              <a:rPr lang="ko-KR" altLang="en-US" sz="1600" dirty="0" err="1"/>
              <a:t>진공라미네이터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건조라인 </a:t>
            </a:r>
            <a:r>
              <a:rPr lang="en-US" altLang="ko-KR" sz="1600" dirty="0"/>
              <a:t>: Chamber Oven(Clean Oven), N2 Oven, UV</a:t>
            </a:r>
            <a:r>
              <a:rPr lang="ko-KR" altLang="en-US" sz="1600" dirty="0"/>
              <a:t>건조기</a:t>
            </a:r>
            <a:r>
              <a:rPr lang="en-US" altLang="ko-KR" sz="1600" dirty="0"/>
              <a:t>, </a:t>
            </a:r>
            <a:r>
              <a:rPr lang="ko-KR" altLang="en-US" sz="1600" dirty="0"/>
              <a:t>자동터널건조기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플라즈마 </a:t>
            </a:r>
            <a:r>
              <a:rPr lang="en-US" altLang="ko-KR" sz="1600" dirty="0"/>
              <a:t>:</a:t>
            </a:r>
            <a:r>
              <a:rPr lang="ko-KR" altLang="en-US" sz="1600" dirty="0"/>
              <a:t> 대기압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상압</a:t>
            </a:r>
            <a:r>
              <a:rPr lang="en-US" altLang="ko-KR" sz="1600" dirty="0"/>
              <a:t>, O2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FOUP : Wafer </a:t>
            </a:r>
            <a:r>
              <a:rPr lang="en-US" altLang="ko-KR" sz="1600" dirty="0" err="1"/>
              <a:t>Foup</a:t>
            </a:r>
            <a:r>
              <a:rPr lang="en-US" altLang="ko-KR" sz="1600" dirty="0"/>
              <a:t>(3, 6, 12”)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FOUP Wafer </a:t>
            </a:r>
            <a:r>
              <a:rPr lang="ko-KR" altLang="en-US" sz="1600" dirty="0"/>
              <a:t>세정건조라인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측정기 </a:t>
            </a:r>
            <a:r>
              <a:rPr lang="en-US" altLang="ko-KR" sz="1600" dirty="0"/>
              <a:t>: F TO F</a:t>
            </a:r>
            <a:r>
              <a:rPr lang="ko-KR" altLang="en-US" sz="1600" dirty="0"/>
              <a:t>거리측정기</a:t>
            </a:r>
            <a:r>
              <a:rPr lang="en-US" altLang="ko-KR" sz="1600" dirty="0"/>
              <a:t>, </a:t>
            </a:r>
            <a:r>
              <a:rPr lang="ko-KR" altLang="en-US" sz="1600" dirty="0"/>
              <a:t>두께측정기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회로폭측정기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휨측정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소터</a:t>
            </a: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B39DB7-3BC8-4E02-B6A7-42F827393553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54BBBF-7786-41D8-8231-E4C4C93B7A0B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72B3C4-B133-4C48-9F54-505A4D44CD35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B078F-76F9-440D-ACC3-BC22A3AE4E4D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DD7775-30FE-4982-9A15-939A80474503}"/>
              </a:ext>
            </a:extLst>
          </p:cNvPr>
          <p:cNvSpPr/>
          <p:nvPr/>
        </p:nvSpPr>
        <p:spPr>
          <a:xfrm>
            <a:off x="145472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PCB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575A8C-84D2-40E0-A54F-E2290B06968D}"/>
              </a:ext>
            </a:extLst>
          </p:cNvPr>
          <p:cNvSpPr/>
          <p:nvPr/>
        </p:nvSpPr>
        <p:spPr>
          <a:xfrm>
            <a:off x="3374967" y="1047404"/>
            <a:ext cx="1629295" cy="5403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반도체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36298F-76CB-4B73-85A6-89EA8A87F61C}"/>
              </a:ext>
            </a:extLst>
          </p:cNvPr>
          <p:cNvSpPr/>
          <p:nvPr/>
        </p:nvSpPr>
        <p:spPr>
          <a:xfrm>
            <a:off x="529520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MRO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A97439-C40E-4DD7-A9F9-28845D1203B6}"/>
              </a:ext>
            </a:extLst>
          </p:cNvPr>
          <p:cNvSpPr/>
          <p:nvPr/>
        </p:nvSpPr>
        <p:spPr>
          <a:xfrm>
            <a:off x="721544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/ </a:t>
            </a:r>
            <a:r>
              <a:rPr lang="ko-KR" altLang="en-US" dirty="0"/>
              <a:t>코딩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6B23A2-AC05-4D2D-92DF-84C173DAC695}"/>
              </a:ext>
            </a:extLst>
          </p:cNvPr>
          <p:cNvSpPr/>
          <p:nvPr/>
        </p:nvSpPr>
        <p:spPr>
          <a:xfrm>
            <a:off x="913568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기타서비스</a:t>
            </a:r>
          </a:p>
        </p:txBody>
      </p:sp>
    </p:spTree>
    <p:extLst>
      <p:ext uri="{BB962C8B-B14F-4D97-AF65-F5344CB8AC3E}">
        <p14:creationId xmlns:p14="http://schemas.microsoft.com/office/powerpoint/2010/main" val="381279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FB903-B4D5-4CD3-8FE3-B102C712DEF9}"/>
              </a:ext>
            </a:extLst>
          </p:cNvPr>
          <p:cNvSpPr txBox="1"/>
          <p:nvPr/>
        </p:nvSpPr>
        <p:spPr>
          <a:xfrm>
            <a:off x="1388226" y="1929326"/>
            <a:ext cx="9193877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진공공압부품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진공이젝터</a:t>
            </a:r>
            <a:r>
              <a:rPr lang="en-US" altLang="ko-KR" sz="1600" dirty="0"/>
              <a:t>, </a:t>
            </a:r>
            <a:r>
              <a:rPr lang="ko-KR" altLang="en-US" sz="1600" dirty="0"/>
              <a:t>센서</a:t>
            </a:r>
            <a:r>
              <a:rPr lang="en-US" altLang="ko-KR" sz="1600" dirty="0"/>
              <a:t>, Vacuum PAD, </a:t>
            </a:r>
            <a:r>
              <a:rPr lang="ko-KR" altLang="en-US" sz="1600" dirty="0" err="1"/>
              <a:t>솔밸브등등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PLC, </a:t>
            </a:r>
            <a:r>
              <a:rPr lang="ko-KR" altLang="en-US" sz="1600" dirty="0" err="1"/>
              <a:t>서보</a:t>
            </a:r>
            <a:r>
              <a:rPr lang="ko-KR" altLang="en-US" sz="1600" dirty="0"/>
              <a:t> 부품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B39DB7-3BC8-4E02-B6A7-42F827393553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54BBBF-7786-41D8-8231-E4C4C93B7A0B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72B3C4-B133-4C48-9F54-505A4D44CD35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B078F-76F9-440D-ACC3-BC22A3AE4E4D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DD7775-30FE-4982-9A15-939A80474503}"/>
              </a:ext>
            </a:extLst>
          </p:cNvPr>
          <p:cNvSpPr/>
          <p:nvPr/>
        </p:nvSpPr>
        <p:spPr>
          <a:xfrm>
            <a:off x="145472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PCB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575A8C-84D2-40E0-A54F-E2290B06968D}"/>
              </a:ext>
            </a:extLst>
          </p:cNvPr>
          <p:cNvSpPr/>
          <p:nvPr/>
        </p:nvSpPr>
        <p:spPr>
          <a:xfrm>
            <a:off x="337496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반도체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36298F-76CB-4B73-85A6-89EA8A87F61C}"/>
              </a:ext>
            </a:extLst>
          </p:cNvPr>
          <p:cNvSpPr/>
          <p:nvPr/>
        </p:nvSpPr>
        <p:spPr>
          <a:xfrm>
            <a:off x="5295207" y="1047404"/>
            <a:ext cx="1629295" cy="5403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MRO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A97439-C40E-4DD7-A9F9-28845D1203B6}"/>
              </a:ext>
            </a:extLst>
          </p:cNvPr>
          <p:cNvSpPr/>
          <p:nvPr/>
        </p:nvSpPr>
        <p:spPr>
          <a:xfrm>
            <a:off x="721544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/ </a:t>
            </a:r>
            <a:r>
              <a:rPr lang="ko-KR" altLang="en-US" dirty="0"/>
              <a:t>코딩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6B23A2-AC05-4D2D-92DF-84C173DAC695}"/>
              </a:ext>
            </a:extLst>
          </p:cNvPr>
          <p:cNvSpPr/>
          <p:nvPr/>
        </p:nvSpPr>
        <p:spPr>
          <a:xfrm>
            <a:off x="913568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기타서비스</a:t>
            </a:r>
          </a:p>
        </p:txBody>
      </p:sp>
    </p:spTree>
    <p:extLst>
      <p:ext uri="{BB962C8B-B14F-4D97-AF65-F5344CB8AC3E}">
        <p14:creationId xmlns:p14="http://schemas.microsoft.com/office/powerpoint/2010/main" val="355518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FB903-B4D5-4CD3-8FE3-B102C712DEF9}"/>
              </a:ext>
            </a:extLst>
          </p:cNvPr>
          <p:cNvSpPr txBox="1"/>
          <p:nvPr/>
        </p:nvSpPr>
        <p:spPr>
          <a:xfrm>
            <a:off x="1388226" y="1929326"/>
            <a:ext cx="9193877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PCB </a:t>
            </a:r>
            <a:r>
              <a:rPr lang="ko-KR" altLang="en-US" sz="1600" dirty="0"/>
              <a:t>반도체 전자회로 설계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AI AGENT</a:t>
            </a:r>
            <a:r>
              <a:rPr lang="ko-KR" altLang="en-US" sz="1600" dirty="0"/>
              <a:t>개발 및 교육</a:t>
            </a:r>
            <a:r>
              <a:rPr lang="en-US" altLang="ko-KR" sz="1600" dirty="0"/>
              <a:t>(</a:t>
            </a:r>
            <a:r>
              <a:rPr lang="ko-KR" altLang="en-US" sz="1600" dirty="0"/>
              <a:t>최신 </a:t>
            </a:r>
            <a:r>
              <a:rPr lang="en-US" altLang="ko-KR" sz="1600" dirty="0"/>
              <a:t>AI AGENT</a:t>
            </a:r>
            <a:r>
              <a:rPr lang="ko-KR" altLang="en-US" sz="1600" dirty="0" err="1"/>
              <a:t>기술활용하여</a:t>
            </a:r>
            <a:r>
              <a:rPr lang="ko-KR" altLang="en-US" sz="1600" dirty="0"/>
              <a:t> 미래기술 교육사업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AI </a:t>
            </a:r>
            <a:r>
              <a:rPr lang="ko-KR" altLang="en-US" sz="1600" dirty="0"/>
              <a:t>교육</a:t>
            </a:r>
            <a:r>
              <a:rPr lang="en-US" altLang="ko-KR" sz="1600" dirty="0"/>
              <a:t>(</a:t>
            </a:r>
            <a:r>
              <a:rPr lang="ko-KR" altLang="en-US" sz="1600" dirty="0"/>
              <a:t>정부기관</a:t>
            </a:r>
            <a:r>
              <a:rPr lang="en-US" altLang="ko-KR" sz="1600" dirty="0"/>
              <a:t>, </a:t>
            </a:r>
            <a:r>
              <a:rPr lang="ko-KR" altLang="en-US" sz="1600" dirty="0"/>
              <a:t>산학연구기관</a:t>
            </a:r>
            <a:r>
              <a:rPr lang="en-US" altLang="ko-KR" sz="1600" dirty="0"/>
              <a:t>, </a:t>
            </a:r>
            <a:r>
              <a:rPr lang="ko-KR" altLang="en-US" sz="1600" dirty="0"/>
              <a:t>대학</a:t>
            </a:r>
            <a:r>
              <a:rPr lang="en-US" altLang="ko-KR" sz="1600" dirty="0"/>
              <a:t>, </a:t>
            </a:r>
            <a:r>
              <a:rPr lang="ko-KR" altLang="en-US" sz="1600" dirty="0"/>
              <a:t>중</a:t>
            </a:r>
            <a:r>
              <a:rPr lang="en-US" altLang="ko-KR" sz="1600" dirty="0"/>
              <a:t>/</a:t>
            </a:r>
            <a:r>
              <a:rPr lang="ko-KR" altLang="en-US" sz="1600" dirty="0"/>
              <a:t>고등학교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B39DB7-3BC8-4E02-B6A7-42F827393553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54BBBF-7786-41D8-8231-E4C4C93B7A0B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72B3C4-B133-4C48-9F54-505A4D44CD35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B078F-76F9-440D-ACC3-BC22A3AE4E4D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DD7775-30FE-4982-9A15-939A80474503}"/>
              </a:ext>
            </a:extLst>
          </p:cNvPr>
          <p:cNvSpPr/>
          <p:nvPr/>
        </p:nvSpPr>
        <p:spPr>
          <a:xfrm>
            <a:off x="145472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PCB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575A8C-84D2-40E0-A54F-E2290B06968D}"/>
              </a:ext>
            </a:extLst>
          </p:cNvPr>
          <p:cNvSpPr/>
          <p:nvPr/>
        </p:nvSpPr>
        <p:spPr>
          <a:xfrm>
            <a:off x="337496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반도체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36298F-76CB-4B73-85A6-89EA8A87F61C}"/>
              </a:ext>
            </a:extLst>
          </p:cNvPr>
          <p:cNvSpPr/>
          <p:nvPr/>
        </p:nvSpPr>
        <p:spPr>
          <a:xfrm>
            <a:off x="529520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MRO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A97439-C40E-4DD7-A9F9-28845D1203B6}"/>
              </a:ext>
            </a:extLst>
          </p:cNvPr>
          <p:cNvSpPr/>
          <p:nvPr/>
        </p:nvSpPr>
        <p:spPr>
          <a:xfrm>
            <a:off x="7215447" y="1047403"/>
            <a:ext cx="1629295" cy="5403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/ </a:t>
            </a:r>
            <a:r>
              <a:rPr lang="ko-KR" altLang="en-US" dirty="0"/>
              <a:t>코딩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6B23A2-AC05-4D2D-92DF-84C173DAC695}"/>
              </a:ext>
            </a:extLst>
          </p:cNvPr>
          <p:cNvSpPr/>
          <p:nvPr/>
        </p:nvSpPr>
        <p:spPr>
          <a:xfrm>
            <a:off x="913568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기타서비스</a:t>
            </a:r>
          </a:p>
        </p:txBody>
      </p:sp>
    </p:spTree>
    <p:extLst>
      <p:ext uri="{BB962C8B-B14F-4D97-AF65-F5344CB8AC3E}">
        <p14:creationId xmlns:p14="http://schemas.microsoft.com/office/powerpoint/2010/main" val="274694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FB903-B4D5-4CD3-8FE3-B102C712DEF9}"/>
              </a:ext>
            </a:extLst>
          </p:cNvPr>
          <p:cNvSpPr txBox="1"/>
          <p:nvPr/>
        </p:nvSpPr>
        <p:spPr>
          <a:xfrm>
            <a:off x="1388226" y="1929326"/>
            <a:ext cx="9193877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구스토</a:t>
            </a:r>
            <a:r>
              <a:rPr lang="en-US" altLang="ko-KR" sz="1600" dirty="0"/>
              <a:t>(CUSTO)</a:t>
            </a:r>
            <a:r>
              <a:rPr lang="ko-KR" altLang="en-US" sz="1600" dirty="0"/>
              <a:t> 보안솔루션 기술 제공 설치 </a:t>
            </a:r>
            <a:r>
              <a:rPr lang="en-US" altLang="ko-KR" sz="1600" dirty="0"/>
              <a:t>: </a:t>
            </a:r>
            <a:r>
              <a:rPr lang="ko-KR" altLang="en-US" sz="1600" dirty="0"/>
              <a:t>충청권역 대리점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All Ready </a:t>
            </a:r>
            <a:r>
              <a:rPr lang="ko-KR" altLang="en-US" sz="1600" dirty="0"/>
              <a:t>청결관리</a:t>
            </a:r>
            <a:r>
              <a:rPr lang="en-US" altLang="ko-KR" sz="1600" dirty="0"/>
              <a:t>(</a:t>
            </a:r>
            <a:r>
              <a:rPr lang="ko-KR" altLang="en-US" sz="1600" dirty="0"/>
              <a:t>관공서</a:t>
            </a:r>
            <a:r>
              <a:rPr lang="en-US" altLang="ko-KR" sz="1600" dirty="0"/>
              <a:t> </a:t>
            </a:r>
            <a:r>
              <a:rPr lang="ko-KR" altLang="en-US" sz="1600" dirty="0"/>
              <a:t>외 차량</a:t>
            </a:r>
            <a:r>
              <a:rPr lang="en-US" altLang="ko-KR" sz="1600" dirty="0"/>
              <a:t>, </a:t>
            </a:r>
            <a:r>
              <a:rPr lang="ko-KR" altLang="en-US" sz="1600" dirty="0"/>
              <a:t>주거지</a:t>
            </a:r>
            <a:r>
              <a:rPr lang="en-US" altLang="ko-KR" sz="1600" dirty="0"/>
              <a:t>) </a:t>
            </a:r>
            <a:r>
              <a:rPr lang="ko-KR" altLang="en-US" sz="1600" dirty="0"/>
              <a:t>청소</a:t>
            </a:r>
            <a:r>
              <a:rPr lang="en-US" altLang="ko-KR" sz="1600" dirty="0"/>
              <a:t>, </a:t>
            </a:r>
            <a:r>
              <a:rPr lang="ko-KR" altLang="en-US" sz="1600" dirty="0"/>
              <a:t>에어컨 청소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B39DB7-3BC8-4E02-B6A7-42F827393553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54BBBF-7786-41D8-8231-E4C4C93B7A0B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72B3C4-B133-4C48-9F54-505A4D44CD35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B078F-76F9-440D-ACC3-BC22A3AE4E4D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DD7775-30FE-4982-9A15-939A80474503}"/>
              </a:ext>
            </a:extLst>
          </p:cNvPr>
          <p:cNvSpPr/>
          <p:nvPr/>
        </p:nvSpPr>
        <p:spPr>
          <a:xfrm>
            <a:off x="145472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PCB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575A8C-84D2-40E0-A54F-E2290B06968D}"/>
              </a:ext>
            </a:extLst>
          </p:cNvPr>
          <p:cNvSpPr/>
          <p:nvPr/>
        </p:nvSpPr>
        <p:spPr>
          <a:xfrm>
            <a:off x="337496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반도체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36298F-76CB-4B73-85A6-89EA8A87F61C}"/>
              </a:ext>
            </a:extLst>
          </p:cNvPr>
          <p:cNvSpPr/>
          <p:nvPr/>
        </p:nvSpPr>
        <p:spPr>
          <a:xfrm>
            <a:off x="5295207" y="1047404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MRO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A97439-C40E-4DD7-A9F9-28845D1203B6}"/>
              </a:ext>
            </a:extLst>
          </p:cNvPr>
          <p:cNvSpPr/>
          <p:nvPr/>
        </p:nvSpPr>
        <p:spPr>
          <a:xfrm>
            <a:off x="7215447" y="1047403"/>
            <a:ext cx="1629295" cy="540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/ </a:t>
            </a:r>
            <a:r>
              <a:rPr lang="ko-KR" altLang="en-US" dirty="0"/>
              <a:t>교육사업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6B23A2-AC05-4D2D-92DF-84C173DAC695}"/>
              </a:ext>
            </a:extLst>
          </p:cNvPr>
          <p:cNvSpPr/>
          <p:nvPr/>
        </p:nvSpPr>
        <p:spPr>
          <a:xfrm>
            <a:off x="9135687" y="1047403"/>
            <a:ext cx="1629295" cy="5403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기타서비스</a:t>
            </a:r>
          </a:p>
        </p:txBody>
      </p:sp>
    </p:spTree>
    <p:extLst>
      <p:ext uri="{BB962C8B-B14F-4D97-AF65-F5344CB8AC3E}">
        <p14:creationId xmlns:p14="http://schemas.microsoft.com/office/powerpoint/2010/main" val="34061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FB903-B4D5-4CD3-8FE3-B102C712DEF9}"/>
              </a:ext>
            </a:extLst>
          </p:cNvPr>
          <p:cNvSpPr txBox="1"/>
          <p:nvPr/>
        </p:nvSpPr>
        <p:spPr>
          <a:xfrm>
            <a:off x="1388226" y="1497064"/>
            <a:ext cx="9193877" cy="299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기술문의 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2"/>
              </a:rPr>
              <a:t>rainbow@rbmst.co.kr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홈페이지 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3"/>
              </a:rPr>
              <a:t>www.rbmst.co.kr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 err="1"/>
              <a:t>Kakao</a:t>
            </a:r>
            <a:r>
              <a:rPr lang="en-US" altLang="ko-KR" sz="1600" dirty="0"/>
              <a:t> : jgw2105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 err="1"/>
              <a:t>Wechat</a:t>
            </a:r>
            <a:r>
              <a:rPr lang="en-US" altLang="ko-KR" sz="1600" dirty="0"/>
              <a:t> : jgw2105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Korea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대전 중구 동서대로 </a:t>
            </a:r>
            <a:r>
              <a:rPr lang="en-US" altLang="ko-KR" sz="1600" dirty="0"/>
              <a:t>1239, 1</a:t>
            </a:r>
            <a:r>
              <a:rPr lang="ko-KR" altLang="en-US" sz="1600" dirty="0"/>
              <a:t>층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Taiwan</a:t>
            </a:r>
            <a:r>
              <a:rPr lang="ko-KR" altLang="en-US" sz="1600" dirty="0"/>
              <a:t> </a:t>
            </a:r>
            <a:r>
              <a:rPr lang="en-US" altLang="ko-KR" sz="1600" dirty="0"/>
              <a:t>: Rainbow MST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        9F., No.218, </a:t>
            </a:r>
            <a:r>
              <a:rPr lang="en-US" altLang="ko-KR" sz="1600" dirty="0" err="1"/>
              <a:t>Yuanhua</a:t>
            </a:r>
            <a:r>
              <a:rPr lang="en-US" altLang="ko-KR" sz="1600" dirty="0"/>
              <a:t> Rd., Zhongli Dist., Taoyuan City 320675, Taiwan (R.O.C)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B39DB7-3BC8-4E02-B6A7-42F827393553}"/>
              </a:ext>
            </a:extLst>
          </p:cNvPr>
          <p:cNvSpPr/>
          <p:nvPr/>
        </p:nvSpPr>
        <p:spPr>
          <a:xfrm>
            <a:off x="1388226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인사말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54BBBF-7786-41D8-8231-E4C4C93B7A0B}"/>
              </a:ext>
            </a:extLst>
          </p:cNvPr>
          <p:cNvSpPr/>
          <p:nvPr/>
        </p:nvSpPr>
        <p:spPr>
          <a:xfrm>
            <a:off x="2934393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72B3C4-B133-4C48-9F54-505A4D44CD35}"/>
              </a:ext>
            </a:extLst>
          </p:cNvPr>
          <p:cNvSpPr/>
          <p:nvPr/>
        </p:nvSpPr>
        <p:spPr>
          <a:xfrm>
            <a:off x="4480560" y="133005"/>
            <a:ext cx="1546167" cy="723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B078F-76F9-440D-ACC3-BC22A3AE4E4D}"/>
              </a:ext>
            </a:extLst>
          </p:cNvPr>
          <p:cNvSpPr/>
          <p:nvPr/>
        </p:nvSpPr>
        <p:spPr>
          <a:xfrm>
            <a:off x="6026727" y="133005"/>
            <a:ext cx="1546167" cy="7232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문의사항</a:t>
            </a:r>
          </a:p>
        </p:txBody>
      </p:sp>
    </p:spTree>
    <p:extLst>
      <p:ext uri="{BB962C8B-B14F-4D97-AF65-F5344CB8AC3E}">
        <p14:creationId xmlns:p14="http://schemas.microsoft.com/office/powerpoint/2010/main" val="24887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638</Words>
  <Application>Microsoft Office PowerPoint</Application>
  <PresentationFormat>와이드스크린</PresentationFormat>
  <Paragraphs>136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David Jung</dc:creator>
  <cp:lastModifiedBy>David Jung</cp:lastModifiedBy>
  <cp:revision>7</cp:revision>
  <dcterms:created xsi:type="dcterms:W3CDTF">2026-04-11T03:20:07Z</dcterms:created>
  <dcterms:modified xsi:type="dcterms:W3CDTF">2026-04-11T04:07:44Z</dcterms:modified>
</cp:coreProperties>
</file>